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78" r:id="rId3"/>
    <p:sldId id="257" r:id="rId4"/>
    <p:sldId id="268" r:id="rId5"/>
    <p:sldId id="269" r:id="rId6"/>
    <p:sldId id="274" r:id="rId7"/>
    <p:sldId id="272" r:id="rId8"/>
    <p:sldId id="276" r:id="rId9"/>
    <p:sldId id="277" r:id="rId10"/>
    <p:sldId id="271" r:id="rId11"/>
    <p:sldId id="270" r:id="rId12"/>
    <p:sldId id="279" r:id="rId13"/>
    <p:sldId id="267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46F45-6346-4198-8054-168F32B4C9D3}" v="118" dt="2025-10-27T09:39:27.1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Anand" userId="7c73d1467bff3a79" providerId="LiveId" clId="{49606024-1734-4369-86F8-D27671C7D478}"/>
    <pc:docChg chg="undo custSel addSld delSld modSld sldOrd">
      <pc:chgData name="Ankita Anand" userId="7c73d1467bff3a79" providerId="LiveId" clId="{49606024-1734-4369-86F8-D27671C7D478}" dt="2025-10-27T09:41:17.536" v="1025" actId="5793"/>
      <pc:docMkLst>
        <pc:docMk/>
      </pc:docMkLst>
      <pc:sldChg chg="addSp modSp mod">
        <pc:chgData name="Ankita Anand" userId="7c73d1467bff3a79" providerId="LiveId" clId="{49606024-1734-4369-86F8-D27671C7D478}" dt="2025-10-26T11:10:54.315" v="24" actId="1076"/>
        <pc:sldMkLst>
          <pc:docMk/>
          <pc:sldMk cId="0" sldId="256"/>
        </pc:sldMkLst>
        <pc:spChg chg="add mod">
          <ac:chgData name="Ankita Anand" userId="7c73d1467bff3a79" providerId="LiveId" clId="{49606024-1734-4369-86F8-D27671C7D478}" dt="2025-10-26T11:10:54.315" v="24" actId="1076"/>
          <ac:spMkLst>
            <pc:docMk/>
            <pc:sldMk cId="0" sldId="256"/>
            <ac:spMk id="6" creationId="{8AAB6AB9-7A6F-B381-509D-3B69769B6A05}"/>
          </ac:spMkLst>
        </pc:spChg>
      </pc:sldChg>
      <pc:sldChg chg="modSp mod">
        <pc:chgData name="Ankita Anand" userId="7c73d1467bff3a79" providerId="LiveId" clId="{49606024-1734-4369-86F8-D27671C7D478}" dt="2025-10-27T09:00:53.322" v="751" actId="1076"/>
        <pc:sldMkLst>
          <pc:docMk/>
          <pc:sldMk cId="0" sldId="257"/>
        </pc:sldMkLst>
        <pc:spChg chg="mod">
          <ac:chgData name="Ankita Anand" userId="7c73d1467bff3a79" providerId="LiveId" clId="{49606024-1734-4369-86F8-D27671C7D478}" dt="2025-10-27T09:00:46.507" v="750" actId="404"/>
          <ac:spMkLst>
            <pc:docMk/>
            <pc:sldMk cId="0" sldId="257"/>
            <ac:spMk id="3" creationId="{FDF0672D-3665-06C2-64F5-308216FEDB54}"/>
          </ac:spMkLst>
        </pc:spChg>
        <pc:spChg chg="mod">
          <ac:chgData name="Ankita Anand" userId="7c73d1467bff3a79" providerId="LiveId" clId="{49606024-1734-4369-86F8-D27671C7D478}" dt="2025-10-27T09:00:53.322" v="751" actId="1076"/>
          <ac:spMkLst>
            <pc:docMk/>
            <pc:sldMk cId="0" sldId="257"/>
            <ac:spMk id="4" creationId="{A7542571-A9BD-2DF6-430B-BF6711DD07DA}"/>
          </ac:spMkLst>
        </pc:spChg>
      </pc:sldChg>
      <pc:sldChg chg="modSp mod">
        <pc:chgData name="Ankita Anand" userId="7c73d1467bff3a79" providerId="LiveId" clId="{49606024-1734-4369-86F8-D27671C7D478}" dt="2025-10-27T09:41:17.536" v="1025" actId="5793"/>
        <pc:sldMkLst>
          <pc:docMk/>
          <pc:sldMk cId="3075342755" sldId="268"/>
        </pc:sldMkLst>
        <pc:spChg chg="mod">
          <ac:chgData name="Ankita Anand" userId="7c73d1467bff3a79" providerId="LiveId" clId="{49606024-1734-4369-86F8-D27671C7D478}" dt="2025-10-27T09:41:17.536" v="1025" actId="5793"/>
          <ac:spMkLst>
            <pc:docMk/>
            <pc:sldMk cId="3075342755" sldId="268"/>
            <ac:spMk id="2" creationId="{612D3386-40F3-353E-E3BF-671BFBCBFF88}"/>
          </ac:spMkLst>
        </pc:spChg>
        <pc:spChg chg="mod">
          <ac:chgData name="Ankita Anand" userId="7c73d1467bff3a79" providerId="LiveId" clId="{49606024-1734-4369-86F8-D27671C7D478}" dt="2025-10-27T09:00:41.229" v="749" actId="404"/>
          <ac:spMkLst>
            <pc:docMk/>
            <pc:sldMk cId="3075342755" sldId="268"/>
            <ac:spMk id="46" creationId="{A8150FA3-0A2D-E9E6-BA8E-79F8A08099A7}"/>
          </ac:spMkLst>
        </pc:spChg>
      </pc:sldChg>
      <pc:sldChg chg="addSp delSp modSp mod">
        <pc:chgData name="Ankita Anand" userId="7c73d1467bff3a79" providerId="LiveId" clId="{49606024-1734-4369-86F8-D27671C7D478}" dt="2025-10-27T08:58:32.918" v="745" actId="1076"/>
        <pc:sldMkLst>
          <pc:docMk/>
          <pc:sldMk cId="3122460056" sldId="269"/>
        </pc:sldMkLst>
        <pc:spChg chg="mod">
          <ac:chgData name="Ankita Anand" userId="7c73d1467bff3a79" providerId="LiveId" clId="{49606024-1734-4369-86F8-D27671C7D478}" dt="2025-10-27T08:58:32.918" v="745" actId="1076"/>
          <ac:spMkLst>
            <pc:docMk/>
            <pc:sldMk cId="3122460056" sldId="269"/>
            <ac:spMk id="2" creationId="{3FB0B379-5E4A-97F6-8FD0-1ED08D4301D6}"/>
          </ac:spMkLst>
        </pc:spChg>
        <pc:spChg chg="add del mod">
          <ac:chgData name="Ankita Anand" userId="7c73d1467bff3a79" providerId="LiveId" clId="{49606024-1734-4369-86F8-D27671C7D478}" dt="2025-10-27T08:56:10.917" v="710" actId="478"/>
          <ac:spMkLst>
            <pc:docMk/>
            <pc:sldMk cId="3122460056" sldId="269"/>
            <ac:spMk id="3" creationId="{9AE11A1E-1E66-3039-AF87-ECDADCE621B6}"/>
          </ac:spMkLst>
        </pc:spChg>
        <pc:spChg chg="mod">
          <ac:chgData name="Ankita Anand" userId="7c73d1467bff3a79" providerId="LiveId" clId="{49606024-1734-4369-86F8-D27671C7D478}" dt="2025-10-27T08:57:57.765" v="740" actId="1076"/>
          <ac:spMkLst>
            <pc:docMk/>
            <pc:sldMk cId="3122460056" sldId="269"/>
            <ac:spMk id="46" creationId="{04DE9433-D0D4-4FB8-869C-E1C423B40D9B}"/>
          </ac:spMkLst>
        </pc:spChg>
      </pc:sldChg>
      <pc:sldChg chg="modSp mod">
        <pc:chgData name="Ankita Anand" userId="7c73d1467bff3a79" providerId="LiveId" clId="{49606024-1734-4369-86F8-D27671C7D478}" dt="2025-10-26T11:15:09.464" v="33" actId="20577"/>
        <pc:sldMkLst>
          <pc:docMk/>
          <pc:sldMk cId="3181300412" sldId="270"/>
        </pc:sldMkLst>
        <pc:spChg chg="mod">
          <ac:chgData name="Ankita Anand" userId="7c73d1467bff3a79" providerId="LiveId" clId="{49606024-1734-4369-86F8-D27671C7D478}" dt="2025-10-26T11:15:09.464" v="33" actId="20577"/>
          <ac:spMkLst>
            <pc:docMk/>
            <pc:sldMk cId="3181300412" sldId="270"/>
            <ac:spMk id="2" creationId="{DF4F2C7A-DD77-0746-267A-FE48A62994AF}"/>
          </ac:spMkLst>
        </pc:spChg>
      </pc:sldChg>
      <pc:sldChg chg="modSp mod">
        <pc:chgData name="Ankita Anand" userId="7c73d1467bff3a79" providerId="LiveId" clId="{49606024-1734-4369-86F8-D27671C7D478}" dt="2025-10-26T11:16:04.485" v="37" actId="2710"/>
        <pc:sldMkLst>
          <pc:docMk/>
          <pc:sldMk cId="1027901716" sldId="271"/>
        </pc:sldMkLst>
        <pc:spChg chg="mod">
          <ac:chgData name="Ankita Anand" userId="7c73d1467bff3a79" providerId="LiveId" clId="{49606024-1734-4369-86F8-D27671C7D478}" dt="2025-10-26T11:16:04.485" v="37" actId="2710"/>
          <ac:spMkLst>
            <pc:docMk/>
            <pc:sldMk cId="1027901716" sldId="271"/>
            <ac:spMk id="4" creationId="{7D5E3674-4CF5-56E9-CB27-B598A01809FE}"/>
          </ac:spMkLst>
        </pc:spChg>
      </pc:sldChg>
      <pc:sldChg chg="addSp modSp mod">
        <pc:chgData name="Ankita Anand" userId="7c73d1467bff3a79" providerId="LiveId" clId="{49606024-1734-4369-86F8-D27671C7D478}" dt="2025-10-27T09:01:28.356" v="755" actId="1076"/>
        <pc:sldMkLst>
          <pc:docMk/>
          <pc:sldMk cId="1508512903" sldId="272"/>
        </pc:sldMkLst>
        <pc:spChg chg="add mod">
          <ac:chgData name="Ankita Anand" userId="7c73d1467bff3a79" providerId="LiveId" clId="{49606024-1734-4369-86F8-D27671C7D478}" dt="2025-10-27T09:01:24.108" v="754" actId="1076"/>
          <ac:spMkLst>
            <pc:docMk/>
            <pc:sldMk cId="1508512903" sldId="272"/>
            <ac:spMk id="4" creationId="{FFE39739-2E78-D33F-8C8E-001AEDE7EC52}"/>
          </ac:spMkLst>
        </pc:spChg>
        <pc:spChg chg="add mod">
          <ac:chgData name="Ankita Anand" userId="7c73d1467bff3a79" providerId="LiveId" clId="{49606024-1734-4369-86F8-D27671C7D478}" dt="2025-10-27T06:34:11.120" v="140" actId="1076"/>
          <ac:spMkLst>
            <pc:docMk/>
            <pc:sldMk cId="1508512903" sldId="272"/>
            <ac:spMk id="5" creationId="{AD513D2A-5E6E-564E-E180-088DC586FC4F}"/>
          </ac:spMkLst>
        </pc:spChg>
        <pc:spChg chg="mod">
          <ac:chgData name="Ankita Anand" userId="7c73d1467bff3a79" providerId="LiveId" clId="{49606024-1734-4369-86F8-D27671C7D478}" dt="2025-10-27T09:01:13.582" v="752" actId="403"/>
          <ac:spMkLst>
            <pc:docMk/>
            <pc:sldMk cId="1508512903" sldId="272"/>
            <ac:spMk id="46" creationId="{B695ABA8-3FF9-E00B-E7C7-8F9E2343F174}"/>
          </ac:spMkLst>
        </pc:spChg>
        <pc:graphicFrameChg chg="mod">
          <ac:chgData name="Ankita Anand" userId="7c73d1467bff3a79" providerId="LiveId" clId="{49606024-1734-4369-86F8-D27671C7D478}" dt="2025-10-27T09:01:28.356" v="755" actId="1076"/>
          <ac:graphicFrameMkLst>
            <pc:docMk/>
            <pc:sldMk cId="1508512903" sldId="272"/>
            <ac:graphicFrameMk id="2" creationId="{7C0D0FBD-9C1E-4308-F988-DD9034D790D9}"/>
          </ac:graphicFrameMkLst>
        </pc:graphicFrameChg>
        <pc:graphicFrameChg chg="mod modGraphic">
          <ac:chgData name="Ankita Anand" userId="7c73d1467bff3a79" providerId="LiveId" clId="{49606024-1734-4369-86F8-D27671C7D478}" dt="2025-10-27T07:47:28.751" v="588" actId="207"/>
          <ac:graphicFrameMkLst>
            <pc:docMk/>
            <pc:sldMk cId="1508512903" sldId="272"/>
            <ac:graphicFrameMk id="3" creationId="{75BCAF92-1EC1-D2F2-1E52-F1CE4FB8D951}"/>
          </ac:graphicFrameMkLst>
        </pc:graphicFrameChg>
      </pc:sldChg>
      <pc:sldChg chg="modSp mod">
        <pc:chgData name="Ankita Anand" userId="7c73d1467bff3a79" providerId="LiveId" clId="{49606024-1734-4369-86F8-D27671C7D478}" dt="2025-10-26T18:05:02.323" v="73" actId="20577"/>
        <pc:sldMkLst>
          <pc:docMk/>
          <pc:sldMk cId="2046356109" sldId="274"/>
        </pc:sldMkLst>
        <pc:graphicFrameChg chg="modGraphic">
          <ac:chgData name="Ankita Anand" userId="7c73d1467bff3a79" providerId="LiveId" clId="{49606024-1734-4369-86F8-D27671C7D478}" dt="2025-10-26T18:05:02.323" v="73" actId="20577"/>
          <ac:graphicFrameMkLst>
            <pc:docMk/>
            <pc:sldMk cId="2046356109" sldId="274"/>
            <ac:graphicFrameMk id="3" creationId="{3D7551DD-D520-C8D5-D1C1-0E1512A69317}"/>
          </ac:graphicFrameMkLst>
        </pc:graphicFrameChg>
      </pc:sldChg>
      <pc:sldChg chg="addSp delSp modSp del mod ord">
        <pc:chgData name="Ankita Anand" userId="7c73d1467bff3a79" providerId="LiveId" clId="{49606024-1734-4369-86F8-D27671C7D478}" dt="2025-10-27T07:45:36.701" v="573" actId="2696"/>
        <pc:sldMkLst>
          <pc:docMk/>
          <pc:sldMk cId="3412785298" sldId="275"/>
        </pc:sldMkLst>
        <pc:spChg chg="add del mod">
          <ac:chgData name="Ankita Anand" userId="7c73d1467bff3a79" providerId="LiveId" clId="{49606024-1734-4369-86F8-D27671C7D478}" dt="2025-10-27T06:47:57.720" v="262"/>
          <ac:spMkLst>
            <pc:docMk/>
            <pc:sldMk cId="3412785298" sldId="275"/>
            <ac:spMk id="2" creationId="{BAF562F3-5ACF-3DA2-5688-A94BB8904C41}"/>
          </ac:spMkLst>
        </pc:spChg>
        <pc:spChg chg="add del mod">
          <ac:chgData name="Ankita Anand" userId="7c73d1467bff3a79" providerId="LiveId" clId="{49606024-1734-4369-86F8-D27671C7D478}" dt="2025-10-27T06:47:47.386" v="259"/>
          <ac:spMkLst>
            <pc:docMk/>
            <pc:sldMk cId="3412785298" sldId="275"/>
            <ac:spMk id="3" creationId="{414B4A9F-9F5D-6C0A-F578-D7668DBD369D}"/>
          </ac:spMkLst>
        </pc:spChg>
        <pc:spChg chg="add del">
          <ac:chgData name="Ankita Anand" userId="7c73d1467bff3a79" providerId="LiveId" clId="{49606024-1734-4369-86F8-D27671C7D478}" dt="2025-10-27T07:39:03.596" v="517" actId="478"/>
          <ac:spMkLst>
            <pc:docMk/>
            <pc:sldMk cId="3412785298" sldId="275"/>
            <ac:spMk id="5" creationId="{89E8420E-4FA1-358F-44F9-CBF43CF04FD0}"/>
          </ac:spMkLst>
        </pc:spChg>
        <pc:spChg chg="mod">
          <ac:chgData name="Ankita Anand" userId="7c73d1467bff3a79" providerId="LiveId" clId="{49606024-1734-4369-86F8-D27671C7D478}" dt="2025-10-27T06:41:12.677" v="250" actId="1076"/>
          <ac:spMkLst>
            <pc:docMk/>
            <pc:sldMk cId="3412785298" sldId="275"/>
            <ac:spMk id="46" creationId="{F0E79B20-CE35-AA17-CCA6-FE3952EC0B57}"/>
          </ac:spMkLst>
        </pc:spChg>
        <pc:graphicFrameChg chg="add del mod modGraphic">
          <ac:chgData name="Ankita Anand" userId="7c73d1467bff3a79" providerId="LiveId" clId="{49606024-1734-4369-86F8-D27671C7D478}" dt="2025-10-27T07:42:25.396" v="543" actId="478"/>
          <ac:graphicFrameMkLst>
            <pc:docMk/>
            <pc:sldMk cId="3412785298" sldId="275"/>
            <ac:graphicFrameMk id="6" creationId="{9FB808B3-22E6-3BB2-417E-0E81F2CDF137}"/>
          </ac:graphicFrameMkLst>
        </pc:graphicFrameChg>
        <pc:graphicFrameChg chg="add del mod modGraphic">
          <ac:chgData name="Ankita Anand" userId="7c73d1467bff3a79" providerId="LiveId" clId="{49606024-1734-4369-86F8-D27671C7D478}" dt="2025-10-27T07:34:27.355" v="463" actId="21"/>
          <ac:graphicFrameMkLst>
            <pc:docMk/>
            <pc:sldMk cId="3412785298" sldId="275"/>
            <ac:graphicFrameMk id="10" creationId="{CF1B31D7-8085-081A-D416-8C58701E7640}"/>
          </ac:graphicFrameMkLst>
        </pc:graphicFrameChg>
      </pc:sldChg>
      <pc:sldChg chg="addSp delSp modSp mod ord">
        <pc:chgData name="Ankita Anand" userId="7c73d1467bff3a79" providerId="LiveId" clId="{49606024-1734-4369-86F8-D27671C7D478}" dt="2025-10-27T09:03:10.080" v="774" actId="1076"/>
        <pc:sldMkLst>
          <pc:docMk/>
          <pc:sldMk cId="80381427" sldId="276"/>
        </pc:sldMkLst>
        <pc:spChg chg="add mod">
          <ac:chgData name="Ankita Anand" userId="7c73d1467bff3a79" providerId="LiveId" clId="{49606024-1734-4369-86F8-D27671C7D478}" dt="2025-10-27T09:02:57.042" v="771" actId="1076"/>
          <ac:spMkLst>
            <pc:docMk/>
            <pc:sldMk cId="80381427" sldId="276"/>
            <ac:spMk id="2" creationId="{29585A7C-5162-1341-2D7C-45E498D1D28B}"/>
          </ac:spMkLst>
        </pc:spChg>
        <pc:spChg chg="add del mod">
          <ac:chgData name="Ankita Anand" userId="7c73d1467bff3a79" providerId="LiveId" clId="{49606024-1734-4369-86F8-D27671C7D478}" dt="2025-10-27T06:49:44.809" v="289"/>
          <ac:spMkLst>
            <pc:docMk/>
            <pc:sldMk cId="80381427" sldId="276"/>
            <ac:spMk id="3" creationId="{8F65E3FC-CFD6-D301-4F2D-C1C08095FFEE}"/>
          </ac:spMkLst>
        </pc:spChg>
        <pc:spChg chg="add mod">
          <ac:chgData name="Ankita Anand" userId="7c73d1467bff3a79" providerId="LiveId" clId="{49606024-1734-4369-86F8-D27671C7D478}" dt="2025-10-27T09:02:25.171" v="765" actId="1076"/>
          <ac:spMkLst>
            <pc:docMk/>
            <pc:sldMk cId="80381427" sldId="276"/>
            <ac:spMk id="4" creationId="{A4BF8B59-15E6-32C8-A95E-269D4224869D}"/>
          </ac:spMkLst>
        </pc:spChg>
        <pc:spChg chg="add mod">
          <ac:chgData name="Ankita Anand" userId="7c73d1467bff3a79" providerId="LiveId" clId="{49606024-1734-4369-86F8-D27671C7D478}" dt="2025-10-27T09:02:21.597" v="764" actId="1076"/>
          <ac:spMkLst>
            <pc:docMk/>
            <pc:sldMk cId="80381427" sldId="276"/>
            <ac:spMk id="5" creationId="{AA0BDAE5-E436-C993-156F-6BA141C100C3}"/>
          </ac:spMkLst>
        </pc:spChg>
        <pc:spChg chg="add mod">
          <ac:chgData name="Ankita Anand" userId="7c73d1467bff3a79" providerId="LiveId" clId="{49606024-1734-4369-86F8-D27671C7D478}" dt="2025-10-27T09:02:18.191" v="763" actId="1076"/>
          <ac:spMkLst>
            <pc:docMk/>
            <pc:sldMk cId="80381427" sldId="276"/>
            <ac:spMk id="6" creationId="{EC7A0F00-804E-12D3-EC1C-42D5E6D2C8D0}"/>
          </ac:spMkLst>
        </pc:spChg>
        <pc:spChg chg="add del mod">
          <ac:chgData name="Ankita Anand" userId="7c73d1467bff3a79" providerId="LiveId" clId="{49606024-1734-4369-86F8-D27671C7D478}" dt="2025-10-27T07:34:58.032" v="468" actId="478"/>
          <ac:spMkLst>
            <pc:docMk/>
            <pc:sldMk cId="80381427" sldId="276"/>
            <ac:spMk id="8" creationId="{31D96C43-A96F-43A7-15E0-0FB0926F41FE}"/>
          </ac:spMkLst>
        </pc:spChg>
        <pc:spChg chg="add mod">
          <ac:chgData name="Ankita Anand" userId="7c73d1467bff3a79" providerId="LiveId" clId="{49606024-1734-4369-86F8-D27671C7D478}" dt="2025-10-27T09:02:44.889" v="769" actId="1076"/>
          <ac:spMkLst>
            <pc:docMk/>
            <pc:sldMk cId="80381427" sldId="276"/>
            <ac:spMk id="13" creationId="{B4F17F56-7AF3-2292-67E4-ED1B8B55D17E}"/>
          </ac:spMkLst>
        </pc:spChg>
        <pc:spChg chg="add mod">
          <ac:chgData name="Ankita Anand" userId="7c73d1467bff3a79" providerId="LiveId" clId="{49606024-1734-4369-86F8-D27671C7D478}" dt="2025-10-27T09:02:34.305" v="767" actId="1076"/>
          <ac:spMkLst>
            <pc:docMk/>
            <pc:sldMk cId="80381427" sldId="276"/>
            <ac:spMk id="16" creationId="{FA1574B8-3444-37D9-6047-6B4EE3FCC716}"/>
          </ac:spMkLst>
        </pc:spChg>
        <pc:spChg chg="mod">
          <ac:chgData name="Ankita Anand" userId="7c73d1467bff3a79" providerId="LiveId" clId="{49606024-1734-4369-86F8-D27671C7D478}" dt="2025-10-27T09:03:10.080" v="774" actId="1076"/>
          <ac:spMkLst>
            <pc:docMk/>
            <pc:sldMk cId="80381427" sldId="276"/>
            <ac:spMk id="46" creationId="{FF7E715B-106C-CE08-9553-8DEA790047B9}"/>
          </ac:spMkLst>
        </pc:spChg>
        <pc:graphicFrameChg chg="add del mod modGraphic">
          <ac:chgData name="Ankita Anand" userId="7c73d1467bff3a79" providerId="LiveId" clId="{49606024-1734-4369-86F8-D27671C7D478}" dt="2025-10-27T07:34:46.810" v="466" actId="478"/>
          <ac:graphicFrameMkLst>
            <pc:docMk/>
            <pc:sldMk cId="80381427" sldId="276"/>
            <ac:graphicFrameMk id="7" creationId="{3E44AE24-D860-DB1C-0268-9DF8C2E09D50}"/>
          </ac:graphicFrameMkLst>
        </pc:graphicFrameChg>
        <pc:graphicFrameChg chg="add mod modGraphic">
          <ac:chgData name="Ankita Anand" userId="7c73d1467bff3a79" providerId="LiveId" clId="{49606024-1734-4369-86F8-D27671C7D478}" dt="2025-10-27T09:02:40.212" v="768" actId="1076"/>
          <ac:graphicFrameMkLst>
            <pc:docMk/>
            <pc:sldMk cId="80381427" sldId="276"/>
            <ac:graphicFrameMk id="9" creationId="{69CD85D7-1815-857A-7ABF-35935C9D120F}"/>
          </ac:graphicFrameMkLst>
        </pc:graphicFrameChg>
        <pc:graphicFrameChg chg="add del mod modGraphic">
          <ac:chgData name="Ankita Anand" userId="7c73d1467bff3a79" providerId="LiveId" clId="{49606024-1734-4369-86F8-D27671C7D478}" dt="2025-10-27T07:32:14.180" v="422" actId="21"/>
          <ac:graphicFrameMkLst>
            <pc:docMk/>
            <pc:sldMk cId="80381427" sldId="276"/>
            <ac:graphicFrameMk id="10" creationId="{CF1B31D7-8085-081A-D416-8C58701E7640}"/>
          </ac:graphicFrameMkLst>
        </pc:graphicFrameChg>
        <pc:graphicFrameChg chg="add mod">
          <ac:chgData name="Ankita Anand" userId="7c73d1467bff3a79" providerId="LiveId" clId="{49606024-1734-4369-86F8-D27671C7D478}" dt="2025-10-27T07:33:43.235" v="446"/>
          <ac:graphicFrameMkLst>
            <pc:docMk/>
            <pc:sldMk cId="80381427" sldId="276"/>
            <ac:graphicFrameMk id="11" creationId="{CFC8C4BC-87BE-E848-6964-F4A23E737576}"/>
          </ac:graphicFrameMkLst>
        </pc:graphicFrameChg>
        <pc:graphicFrameChg chg="add mod modGraphic">
          <ac:chgData name="Ankita Anand" userId="7c73d1467bff3a79" providerId="LiveId" clId="{49606024-1734-4369-86F8-D27671C7D478}" dt="2025-10-27T09:02:14.601" v="762" actId="1076"/>
          <ac:graphicFrameMkLst>
            <pc:docMk/>
            <pc:sldMk cId="80381427" sldId="276"/>
            <ac:graphicFrameMk id="14" creationId="{CF1B31D7-8085-081A-D416-8C58701E7640}"/>
          </ac:graphicFrameMkLst>
        </pc:graphicFrameChg>
      </pc:sldChg>
      <pc:sldChg chg="addSp modSp mod ord">
        <pc:chgData name="Ankita Anand" userId="7c73d1467bff3a79" providerId="LiveId" clId="{49606024-1734-4369-86F8-D27671C7D478}" dt="2025-10-27T09:03:37.031" v="779" actId="1076"/>
        <pc:sldMkLst>
          <pc:docMk/>
          <pc:sldMk cId="1421175491" sldId="277"/>
        </pc:sldMkLst>
        <pc:spChg chg="mod">
          <ac:chgData name="Ankita Anand" userId="7c73d1467bff3a79" providerId="LiveId" clId="{49606024-1734-4369-86F8-D27671C7D478}" dt="2025-10-27T09:03:18.957" v="775" actId="403"/>
          <ac:spMkLst>
            <pc:docMk/>
            <pc:sldMk cId="1421175491" sldId="277"/>
            <ac:spMk id="46" creationId="{BF9F04CA-CCDC-9871-0BE0-458AD3A05DFD}"/>
          </ac:spMkLst>
        </pc:spChg>
        <pc:graphicFrameChg chg="add mod modGraphic">
          <ac:chgData name="Ankita Anand" userId="7c73d1467bff3a79" providerId="LiveId" clId="{49606024-1734-4369-86F8-D27671C7D478}" dt="2025-10-27T09:03:32.017" v="778" actId="1076"/>
          <ac:graphicFrameMkLst>
            <pc:docMk/>
            <pc:sldMk cId="1421175491" sldId="277"/>
            <ac:graphicFrameMk id="2" creationId="{4D4F0FD9-A09B-7D29-7ADB-0792B55F0C04}"/>
          </ac:graphicFrameMkLst>
        </pc:graphicFrameChg>
        <pc:graphicFrameChg chg="mod modGraphic">
          <ac:chgData name="Ankita Anand" userId="7c73d1467bff3a79" providerId="LiveId" clId="{49606024-1734-4369-86F8-D27671C7D478}" dt="2025-10-27T09:03:37.031" v="779" actId="1076"/>
          <ac:graphicFrameMkLst>
            <pc:docMk/>
            <pc:sldMk cId="1421175491" sldId="277"/>
            <ac:graphicFrameMk id="3" creationId="{6A2C15AA-CE84-B5E6-BF30-54965C28054F}"/>
          </ac:graphicFrameMkLst>
        </pc:graphicFrameChg>
        <pc:picChg chg="mod">
          <ac:chgData name="Ankita Anand" userId="7c73d1467bff3a79" providerId="LiveId" clId="{49606024-1734-4369-86F8-D27671C7D478}" dt="2025-10-27T09:03:28.559" v="777" actId="1076"/>
          <ac:picMkLst>
            <pc:docMk/>
            <pc:sldMk cId="1421175491" sldId="277"/>
            <ac:picMk id="8" creationId="{00E1F8C5-128F-9F37-92FC-52F540A45D8E}"/>
          </ac:picMkLst>
        </pc:picChg>
      </pc:sldChg>
      <pc:sldChg chg="addSp delSp modSp add mod ord">
        <pc:chgData name="Ankita Anand" userId="7c73d1467bff3a79" providerId="LiveId" clId="{49606024-1734-4369-86F8-D27671C7D478}" dt="2025-10-27T09:31:59.389" v="912" actId="20577"/>
        <pc:sldMkLst>
          <pc:docMk/>
          <pc:sldMk cId="2045587985" sldId="278"/>
        </pc:sldMkLst>
        <pc:spChg chg="del mod">
          <ac:chgData name="Ankita Anand" userId="7c73d1467bff3a79" providerId="LiveId" clId="{49606024-1734-4369-86F8-D27671C7D478}" dt="2025-10-27T09:27:52.938" v="804"/>
          <ac:spMkLst>
            <pc:docMk/>
            <pc:sldMk cId="2045587985" sldId="278"/>
            <ac:spMk id="2" creationId="{4D2EFF0B-E11E-6EB8-873E-87F60C947811}"/>
          </ac:spMkLst>
        </pc:spChg>
        <pc:spChg chg="add mod">
          <ac:chgData name="Ankita Anand" userId="7c73d1467bff3a79" providerId="LiveId" clId="{49606024-1734-4369-86F8-D27671C7D478}" dt="2025-10-27T09:31:59.389" v="912" actId="20577"/>
          <ac:spMkLst>
            <pc:docMk/>
            <pc:sldMk cId="2045587985" sldId="278"/>
            <ac:spMk id="3" creationId="{266CE330-3AFC-6234-4860-B7794F5AC96A}"/>
          </ac:spMkLst>
        </pc:spChg>
        <pc:spChg chg="mod">
          <ac:chgData name="Ankita Anand" userId="7c73d1467bff3a79" providerId="LiveId" clId="{49606024-1734-4369-86F8-D27671C7D478}" dt="2025-10-27T09:27:57.908" v="806" actId="20577"/>
          <ac:spMkLst>
            <pc:docMk/>
            <pc:sldMk cId="2045587985" sldId="278"/>
            <ac:spMk id="46" creationId="{FAE2141F-DFCF-5ACC-F161-C228C6A99669}"/>
          </ac:spMkLst>
        </pc:spChg>
      </pc:sldChg>
      <pc:sldChg chg="addSp delSp modSp new mod">
        <pc:chgData name="Ankita Anand" userId="7c73d1467bff3a79" providerId="LiveId" clId="{49606024-1734-4369-86F8-D27671C7D478}" dt="2025-10-27T09:40:30.887" v="1021" actId="20577"/>
        <pc:sldMkLst>
          <pc:docMk/>
          <pc:sldMk cId="780603334" sldId="279"/>
        </pc:sldMkLst>
        <pc:spChg chg="mod">
          <ac:chgData name="Ankita Anand" userId="7c73d1467bff3a79" providerId="LiveId" clId="{49606024-1734-4369-86F8-D27671C7D478}" dt="2025-10-27T09:37:07.562" v="949" actId="14100"/>
          <ac:spMkLst>
            <pc:docMk/>
            <pc:sldMk cId="780603334" sldId="279"/>
            <ac:spMk id="2" creationId="{8F18D50B-2453-B1A7-19A9-09546A62098E}"/>
          </ac:spMkLst>
        </pc:spChg>
        <pc:spChg chg="mod">
          <ac:chgData name="Ankita Anand" userId="7c73d1467bff3a79" providerId="LiveId" clId="{49606024-1734-4369-86F8-D27671C7D478}" dt="2025-10-27T09:40:30.887" v="1021" actId="20577"/>
          <ac:spMkLst>
            <pc:docMk/>
            <pc:sldMk cId="780603334" sldId="279"/>
            <ac:spMk id="3" creationId="{F6DFB54C-9236-CEDE-4A73-6B252E9A92A8}"/>
          </ac:spMkLst>
        </pc:spChg>
        <pc:spChg chg="add mod">
          <ac:chgData name="Ankita Anand" userId="7c73d1467bff3a79" providerId="LiveId" clId="{49606024-1734-4369-86F8-D27671C7D478}" dt="2025-10-27T09:40:09.152" v="1009" actId="403"/>
          <ac:spMkLst>
            <pc:docMk/>
            <pc:sldMk cId="780603334" sldId="279"/>
            <ac:spMk id="4" creationId="{85F49E95-9842-B010-0CCF-81F38F137936}"/>
          </ac:spMkLst>
        </pc:spChg>
        <pc:spChg chg="add del mod">
          <ac:chgData name="Ankita Anand" userId="7c73d1467bff3a79" providerId="LiveId" clId="{49606024-1734-4369-86F8-D27671C7D478}" dt="2025-10-27T09:39:52.753" v="1002" actId="478"/>
          <ac:spMkLst>
            <pc:docMk/>
            <pc:sldMk cId="780603334" sldId="279"/>
            <ac:spMk id="5" creationId="{3361B067-8A08-E0EE-2D10-4F785396A04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and\Downloads\RFP_SQL_Quer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Segment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result!$I$1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result!$H$2:$H$5</c:f>
              <c:strCache>
                <c:ptCount val="4"/>
                <c:pt idx="0">
                  <c:v>Revolvers</c:v>
                </c:pt>
                <c:pt idx="1">
                  <c:v>Safe High Spenders</c:v>
                </c:pt>
                <c:pt idx="2">
                  <c:v>Moderate Users</c:v>
                </c:pt>
                <c:pt idx="3">
                  <c:v>Over-Leveraged</c:v>
                </c:pt>
              </c:strCache>
            </c:strRef>
          </c:cat>
          <c:val>
            <c:numRef>
              <c:f>result!$I$2:$I$5</c:f>
              <c:numCache>
                <c:formatCode>General</c:formatCode>
                <c:ptCount val="4"/>
                <c:pt idx="0">
                  <c:v>5454</c:v>
                </c:pt>
                <c:pt idx="1">
                  <c:v>1263</c:v>
                </c:pt>
                <c:pt idx="2">
                  <c:v>1168</c:v>
                </c:pt>
                <c:pt idx="3">
                  <c:v>1065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B-45E3-AC78-A55FD18FECE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6"/>
        <c:axId val="34828703"/>
        <c:axId val="34825823"/>
      </c:barChart>
      <c:catAx>
        <c:axId val="3482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825823"/>
        <c:crosses val="autoZero"/>
        <c:auto val="1"/>
        <c:lblAlgn val="ctr"/>
        <c:lblOffset val="100"/>
        <c:noMultiLvlLbl val="0"/>
      </c:catAx>
      <c:valAx>
        <c:axId val="3482582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482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980E9-30E2-4760-8A5D-5CB4B36AF1D4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DE7AD-10F6-423D-ABF2-187A471CE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8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DE7AD-10F6-423D-ABF2-187A471CE0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550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DE7AD-10F6-423D-ABF2-187A471CE07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20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6A20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A520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6A20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47053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6A20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648" y="694944"/>
            <a:ext cx="3674364" cy="7528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495" y="2142742"/>
            <a:ext cx="5175504" cy="47152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80448" y="387095"/>
            <a:ext cx="2127504" cy="43586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5981699"/>
            <a:ext cx="873251" cy="8762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0845" y="5272836"/>
            <a:ext cx="3750309" cy="697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6A20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2527" y="1649044"/>
            <a:ext cx="9346945" cy="380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7A520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43101" y="6582214"/>
            <a:ext cx="1830705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5" dirty="0"/>
              <a:t>C</a:t>
            </a:r>
            <a:r>
              <a:rPr spc="5" dirty="0"/>
              <a:t>ORPORATE</a:t>
            </a:r>
            <a:r>
              <a:rPr spc="70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247769" y="6582214"/>
            <a:ext cx="346837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0" dirty="0"/>
              <a:t>I</a:t>
            </a:r>
            <a:r>
              <a:rPr spc="10" dirty="0"/>
              <a:t>NTRODUCTION</a:t>
            </a:r>
            <a:r>
              <a:rPr spc="114" dirty="0"/>
              <a:t> </a:t>
            </a:r>
            <a:r>
              <a:rPr spc="5" dirty="0"/>
              <a:t>TO</a:t>
            </a:r>
            <a:r>
              <a:rPr spc="85" dirty="0"/>
              <a:t> </a:t>
            </a:r>
            <a:r>
              <a:rPr sz="1400" spc="5" dirty="0"/>
              <a:t>C</a:t>
            </a:r>
            <a:r>
              <a:rPr spc="5" dirty="0"/>
              <a:t>ORPORATE</a:t>
            </a:r>
            <a:r>
              <a:rPr spc="105" dirty="0"/>
              <a:t> </a:t>
            </a:r>
            <a:r>
              <a:rPr sz="1400" spc="5" dirty="0"/>
              <a:t>F</a:t>
            </a:r>
            <a:r>
              <a:rPr spc="5" dirty="0"/>
              <a:t>INANCE</a:t>
            </a:r>
            <a:endParaRPr sz="140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37950" y="6582214"/>
            <a:ext cx="302259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BEBEC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2286000"/>
            <a:ext cx="7848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600" b="1" spc="20" dirty="0">
                <a:solidFill>
                  <a:srgbClr val="F8A330"/>
                </a:solidFill>
                <a:latin typeface="Verdana"/>
                <a:cs typeface="Verdana"/>
              </a:rPr>
              <a:t>Title: </a:t>
            </a:r>
            <a:r>
              <a:rPr lang="en-IN" sz="36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Customer Segmentation Using Big Data in Retail </a:t>
            </a:r>
            <a:endParaRPr lang="en-US" sz="2850" dirty="0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50267C-D103-0F76-8FB9-691D3805A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49001"/>
              </p:ext>
            </p:extLst>
          </p:nvPr>
        </p:nvGraphicFramePr>
        <p:xfrm>
          <a:off x="1143000" y="4419600"/>
          <a:ext cx="4800600" cy="1925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178252543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578080505"/>
                    </a:ext>
                  </a:extLst>
                </a:gridCol>
              </a:tblGrid>
              <a:tr h="397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Members</a:t>
                      </a:r>
                      <a:endParaRPr lang="en-IN" sz="18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Registration No.</a:t>
                      </a:r>
                      <a:endParaRPr lang="en-IN" sz="1800" b="1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32438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Ankita Anand</a:t>
                      </a:r>
                      <a:endParaRPr lang="en-IN" sz="1800" b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2024JULB00232</a:t>
                      </a:r>
                      <a:endParaRPr lang="en-IN" sz="1800" b="0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92201"/>
                  </a:ext>
                </a:extLst>
              </a:tr>
              <a:tr h="3972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Sonali Agarwal</a:t>
                      </a:r>
                      <a:endParaRPr lang="en-IN" sz="1800" b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2024JULB00155</a:t>
                      </a:r>
                      <a:endParaRPr lang="en-IN" sz="1800" b="0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815009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Saraswati Gowda</a:t>
                      </a:r>
                      <a:endParaRPr lang="en-IN" sz="1800" b="0" kern="1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2024AUGVPGP0029</a:t>
                      </a:r>
                      <a:endParaRPr lang="en-IN" sz="1800" b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132342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Subham Kumar Sahana</a:t>
                      </a:r>
                      <a:endParaRPr lang="en-IN" sz="1800" b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2024JULB00161</a:t>
                      </a:r>
                      <a:endParaRPr lang="en-IN" sz="1800" b="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620569"/>
                  </a:ext>
                </a:extLst>
              </a:tr>
            </a:tbl>
          </a:graphicData>
        </a:graphic>
      </p:graphicFrame>
      <p:pic>
        <p:nvPicPr>
          <p:cNvPr id="6146" name="Picture 2" descr="Deloitte Logo, symbol, meaning, history ...">
            <a:extLst>
              <a:ext uri="{FF2B5EF4-FFF2-40B4-BE49-F238E27FC236}">
                <a16:creationId xmlns:a16="http://schemas.microsoft.com/office/drawing/2014/main" id="{AEA1478C-40AB-BACC-E0B9-72A9158DA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533400"/>
            <a:ext cx="2781300" cy="96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AB6AB9-7A6F-B381-509D-3B69769B6A05}"/>
              </a:ext>
            </a:extLst>
          </p:cNvPr>
          <p:cNvSpPr txBox="1"/>
          <p:nvPr/>
        </p:nvSpPr>
        <p:spPr>
          <a:xfrm>
            <a:off x="2438400" y="401949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Analytics Group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FA0A-53AA-3068-8353-E47C64B9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FAE2141F-DFCF-5ACC-F161-C228C6A9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304800"/>
            <a:ext cx="5638800" cy="615553"/>
          </a:xfrm>
        </p:spPr>
        <p:txBody>
          <a:bodyPr/>
          <a:lstStyle/>
          <a:p>
            <a:r>
              <a:rPr lang="en-IN" sz="4000" dirty="0"/>
              <a:t>Table of Contents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CE330-3AFC-6234-4860-B7794F5AC96A}"/>
              </a:ext>
            </a:extLst>
          </p:cNvPr>
          <p:cNvSpPr txBox="1"/>
          <p:nvPr/>
        </p:nvSpPr>
        <p:spPr>
          <a:xfrm>
            <a:off x="1219200" y="920353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Introduction &amp; Background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Problem Identification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Project Scope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Gap Analysis &amp; Data Source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Data Analysis &amp; Project Execution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Results &amp; Insights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Prescriptive Strategy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Gap Closure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Industry Impact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/>
              <a:t>Limitations &amp; Future Scope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587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F0672D-3665-06C2-64F5-308216FE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8915400" cy="553998"/>
          </a:xfrm>
        </p:spPr>
        <p:txBody>
          <a:bodyPr/>
          <a:lstStyle/>
          <a:p>
            <a:pPr algn="ctr"/>
            <a:r>
              <a:rPr lang="en-US" sz="3600" dirty="0"/>
              <a:t>Industry Background – Deloitte 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42571-A9BD-2DF6-430B-BF6711DD07DA}"/>
              </a:ext>
            </a:extLst>
          </p:cNvPr>
          <p:cNvSpPr txBox="1"/>
          <p:nvPr/>
        </p:nvSpPr>
        <p:spPr>
          <a:xfrm>
            <a:off x="533400" y="990600"/>
            <a:ext cx="113538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Rapid growth in credit card usage driven by </a:t>
            </a:r>
            <a:r>
              <a:rPr lang="en-US" sz="2400" b="1" dirty="0"/>
              <a:t>digital payments and lifestyle spending</a:t>
            </a:r>
            <a:r>
              <a:rPr lang="en-US" sz="24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Increase in </a:t>
            </a:r>
            <a:r>
              <a:rPr lang="en-US" sz="2400" b="1" dirty="0"/>
              <a:t>consumer financing</a:t>
            </a:r>
            <a:r>
              <a:rPr lang="en-US" sz="2400" dirty="0"/>
              <a:t> has expanded the market and customer base.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However, growth also increases </a:t>
            </a:r>
            <a:r>
              <a:rPr lang="en-US" sz="2400" b="1" dirty="0"/>
              <a:t>credit exposure and default risk</a:t>
            </a:r>
            <a:r>
              <a:rPr lang="en-US" sz="2400" dirty="0"/>
              <a:t> for banks.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Banks must </a:t>
            </a:r>
            <a:r>
              <a:rPr lang="en-US" sz="2400" b="1" dirty="0"/>
              <a:t>balance revenue generation</a:t>
            </a:r>
            <a:r>
              <a:rPr lang="en-US" sz="2400" dirty="0"/>
              <a:t> with responsible credit risk management.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Understanding </a:t>
            </a:r>
            <a:r>
              <a:rPr lang="en-US" sz="2400" b="1" dirty="0"/>
              <a:t>customer spending and repayment behavior</a:t>
            </a:r>
            <a:r>
              <a:rPr lang="en-US" sz="2400" dirty="0"/>
              <a:t> is now essential.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Data-driven segmentation helps maintain </a:t>
            </a:r>
            <a:r>
              <a:rPr lang="en-US" sz="2400" b="1" dirty="0"/>
              <a:t>portfolio health and long-term profitability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A7F62-CB75-B572-B1D2-632A2852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A8150FA3-0A2D-E9E6-BA8E-79F8A0809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50904"/>
            <a:ext cx="7924800" cy="553998"/>
          </a:xfrm>
        </p:spPr>
        <p:txBody>
          <a:bodyPr/>
          <a:lstStyle/>
          <a:p>
            <a:pPr algn="ctr"/>
            <a:r>
              <a:rPr lang="en-US" sz="3600" dirty="0"/>
              <a:t>Problem Identification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D3386-40F3-353E-E3BF-671BFBCBFF88}"/>
              </a:ext>
            </a:extLst>
          </p:cNvPr>
          <p:cNvSpPr txBox="1"/>
          <p:nvPr/>
        </p:nvSpPr>
        <p:spPr>
          <a:xfrm>
            <a:off x="457200" y="762000"/>
            <a:ext cx="11620500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Traditional credit card policies rely heavily on fixed rules and static risk scores.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This leads to: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One-size-fits-all credit limits, regardless of changing customer behavior.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Underestimation of hidden risk among high-utilization customers.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Missed revenue opportunities from safe and disciplined customers.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Increased probability of accounts turning into NPAs (Non-Performing Assets).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Thus, </a:t>
            </a:r>
            <a:r>
              <a:rPr lang="en-US" sz="2400" b="1" dirty="0"/>
              <a:t>banks need behavior-based segmentation and dynamic credit limit management.</a:t>
            </a:r>
          </a:p>
        </p:txBody>
      </p:sp>
    </p:spTree>
    <p:extLst>
      <p:ext uri="{BB962C8B-B14F-4D97-AF65-F5344CB8AC3E}">
        <p14:creationId xmlns:p14="http://schemas.microsoft.com/office/powerpoint/2010/main" val="307534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2EA8-2E06-B54E-3258-2B8C28C0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04DE9433-D0D4-4FB8-869C-E1C423B4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55602"/>
            <a:ext cx="5638800" cy="553998"/>
          </a:xfrm>
        </p:spPr>
        <p:txBody>
          <a:bodyPr/>
          <a:lstStyle/>
          <a:p>
            <a:r>
              <a:rPr lang="en-US" sz="3600" dirty="0"/>
              <a:t>Project Objective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0B379-5E4A-97F6-8FD0-1ED08D4301D6}"/>
              </a:ext>
            </a:extLst>
          </p:cNvPr>
          <p:cNvSpPr txBox="1"/>
          <p:nvPr/>
        </p:nvSpPr>
        <p:spPr>
          <a:xfrm>
            <a:off x="685800" y="914400"/>
            <a:ext cx="10534650" cy="4753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In Scope: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Customer Segmentation - </a:t>
            </a:r>
            <a:r>
              <a:rPr lang="en-US" sz="2000" dirty="0"/>
              <a:t>Grouped customers based on spending and repayment behavior.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Predictive / Stress Analysis - </a:t>
            </a:r>
            <a:r>
              <a:rPr lang="en-US" sz="2000" dirty="0"/>
              <a:t>Simulated economic stress to evaluate default sensitivity across segments.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Prescriptive Strategy Development - </a:t>
            </a:r>
            <a:r>
              <a:rPr lang="en-US" sz="2000" dirty="0"/>
              <a:t>Formulated </a:t>
            </a:r>
            <a:r>
              <a:rPr lang="en-US" sz="2000" b="1" dirty="0"/>
              <a:t>segment-wise credit limit and APR action rules</a:t>
            </a:r>
            <a:r>
              <a:rPr lang="en-US" sz="2000" dirty="0"/>
              <a:t> for banks.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Out of Scope: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Real-time fraud detection or anomaly monitoring (covered under a different use case).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Customer churn or attrition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Deployment of predictive models in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122460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C936-E457-3B19-27B6-88A457AF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E0F0923-BF74-41F9-2B74-AAF7D53A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10210800" cy="553998"/>
          </a:xfrm>
        </p:spPr>
        <p:txBody>
          <a:bodyPr/>
          <a:lstStyle/>
          <a:p>
            <a:pPr algn="ctr"/>
            <a:r>
              <a:rPr lang="en-US" sz="3600" dirty="0"/>
              <a:t>Gap Analysis (AS-IS vs TO-BE)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7551DD-D520-C8D5-D1C1-0E1512A69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863707"/>
              </p:ext>
            </p:extLst>
          </p:nvPr>
        </p:nvGraphicFramePr>
        <p:xfrm>
          <a:off x="609600" y="967293"/>
          <a:ext cx="10820400" cy="2773680"/>
        </p:xfrm>
        <a:graphic>
          <a:graphicData uri="http://schemas.openxmlformats.org/drawingml/2006/table">
            <a:tbl>
              <a:tblPr/>
              <a:tblGrid>
                <a:gridCol w="4637314">
                  <a:extLst>
                    <a:ext uri="{9D8B030D-6E8A-4147-A177-3AD203B41FA5}">
                      <a16:colId xmlns:a16="http://schemas.microsoft.com/office/drawing/2014/main" val="2024692880"/>
                    </a:ext>
                  </a:extLst>
                </a:gridCol>
                <a:gridCol w="6183086">
                  <a:extLst>
                    <a:ext uri="{9D8B030D-6E8A-4147-A177-3AD203B41FA5}">
                      <a16:colId xmlns:a16="http://schemas.microsoft.com/office/drawing/2014/main" val="125394564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Current (AS-IS)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Proposed (TO-BE) Future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59996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    Static credit limit assignments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/>
                        <a:t>     Dynamic limit adjustments based on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1371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    Risk detected after defaults occur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/>
                        <a:t>     Risk predicted early through score indicators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04838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    Same treatment for all customer</a:t>
                      </a:r>
                    </a:p>
                    <a:p>
                      <a:pPr>
                        <a:buNone/>
                      </a:pPr>
                      <a:r>
                        <a:rPr lang="en-US" sz="2200" dirty="0"/>
                        <a:t>    profiles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200" dirty="0"/>
                        <a:t>     Personalized, segment-driven policy decisioning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98201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    Revenue growth conflicts with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/>
                        <a:t>     Balanced growth via risk-adjusted strategies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0404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12586A-B123-E2DA-0DC2-5529E7BDDCFC}"/>
              </a:ext>
            </a:extLst>
          </p:cNvPr>
          <p:cNvSpPr txBox="1"/>
          <p:nvPr/>
        </p:nvSpPr>
        <p:spPr>
          <a:xfrm>
            <a:off x="838200" y="3833321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Source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45D12E-0253-8810-FF30-5EB26242B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88677"/>
              </p:ext>
            </p:extLst>
          </p:nvPr>
        </p:nvGraphicFramePr>
        <p:xfrm>
          <a:off x="609600" y="4572000"/>
          <a:ext cx="10820400" cy="17521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779184519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7769660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084038538"/>
                    </a:ext>
                  </a:extLst>
                </a:gridCol>
              </a:tblGrid>
              <a:tr h="495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Key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97871"/>
                  </a:ext>
                </a:extLst>
              </a:tr>
              <a:tr h="537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CC General Data</a:t>
                      </a:r>
                      <a:endParaRPr lang="en-IN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Monthly credit card usage &amp; repayments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Balance, Purchases, Payments, Cash Advance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080851"/>
                  </a:ext>
                </a:extLst>
              </a:tr>
              <a:tr h="495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Demographics Data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Customer profile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Income Tier, Age, City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535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35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25F9-F3C0-309E-DA63-EF7DC86D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B695ABA8-3FF9-E00B-E7C7-8F9E2343F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09"/>
            <a:ext cx="8232921" cy="1107996"/>
          </a:xfrm>
        </p:spPr>
        <p:txBody>
          <a:bodyPr/>
          <a:lstStyle/>
          <a:p>
            <a:pPr algn="ctr"/>
            <a:r>
              <a:rPr lang="en-IN" sz="3600" dirty="0"/>
              <a:t>Data Analysis Step 1:</a:t>
            </a:r>
            <a:br>
              <a:rPr lang="en-IN" sz="3600" dirty="0"/>
            </a:br>
            <a:r>
              <a:rPr lang="en-IN" sz="3600" dirty="0"/>
              <a:t>Segmentation Framework</a:t>
            </a:r>
            <a:endParaRPr lang="en-US" sz="36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C0D0FBD-9C1E-4308-F988-DD9034D790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6017040"/>
              </p:ext>
            </p:extLst>
          </p:nvPr>
        </p:nvGraphicFramePr>
        <p:xfrm>
          <a:off x="6096000" y="1399042"/>
          <a:ext cx="5600700" cy="2090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BCAF92-1EC1-D2F2-1E52-F1CE4FB8D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31891"/>
              </p:ext>
            </p:extLst>
          </p:nvPr>
        </p:nvGraphicFramePr>
        <p:xfrm>
          <a:off x="2686050" y="3842266"/>
          <a:ext cx="9010650" cy="2603773"/>
        </p:xfrm>
        <a:graphic>
          <a:graphicData uri="http://schemas.openxmlformats.org/drawingml/2006/table">
            <a:tbl>
              <a:tblPr/>
              <a:tblGrid>
                <a:gridCol w="2522982">
                  <a:extLst>
                    <a:ext uri="{9D8B030D-6E8A-4147-A177-3AD203B41FA5}">
                      <a16:colId xmlns:a16="http://schemas.microsoft.com/office/drawing/2014/main" val="3569119456"/>
                    </a:ext>
                  </a:extLst>
                </a:gridCol>
                <a:gridCol w="4144899">
                  <a:extLst>
                    <a:ext uri="{9D8B030D-6E8A-4147-A177-3AD203B41FA5}">
                      <a16:colId xmlns:a16="http://schemas.microsoft.com/office/drawing/2014/main" val="2714426151"/>
                    </a:ext>
                  </a:extLst>
                </a:gridCol>
                <a:gridCol w="2342769">
                  <a:extLst>
                    <a:ext uri="{9D8B030D-6E8A-4147-A177-3AD203B41FA5}">
                      <a16:colId xmlns:a16="http://schemas.microsoft.com/office/drawing/2014/main" val="681157774"/>
                    </a:ext>
                  </a:extLst>
                </a:gridCol>
              </a:tblGrid>
              <a:tr h="374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Characteristics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Risk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730486"/>
                  </a:ext>
                </a:extLst>
              </a:tr>
              <a:tr h="46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Safe High Spenders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Low utilization, strong repayment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Low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34555"/>
                  </a:ext>
                </a:extLst>
              </a:tr>
              <a:tr h="6622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Moderate Users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Balanced spending, average repayment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Medium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893460"/>
                  </a:ext>
                </a:extLst>
              </a:tr>
              <a:tr h="548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Revolvers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High utilization, minimal full 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C00000"/>
                          </a:solidFill>
                        </a:rPr>
                        <a:t>High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4232"/>
                  </a:ext>
                </a:extLst>
              </a:tr>
              <a:tr h="5487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Over-Leveraged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Maxed-out usage &amp; repayment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C00000"/>
                          </a:solidFill>
                        </a:rPr>
                        <a:t>Very High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079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E39739-2E78-D33F-8C8E-001AEDE7EC52}"/>
              </a:ext>
            </a:extLst>
          </p:cNvPr>
          <p:cNvSpPr txBox="1"/>
          <p:nvPr/>
        </p:nvSpPr>
        <p:spPr>
          <a:xfrm>
            <a:off x="495300" y="1341433"/>
            <a:ext cx="533400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Segmentation was based on: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Utilization Ratio</a:t>
            </a:r>
            <a:r>
              <a:rPr lang="en-US" sz="2000" dirty="0"/>
              <a:t> = Balance / Credit Limit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Repayment Discipline</a:t>
            </a:r>
            <a:r>
              <a:rPr lang="en-US" sz="2000" dirty="0"/>
              <a:t> = % of Full Payments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Cash Advance Dependency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13D2A-5E6E-564E-E180-088DC586FC4F}"/>
              </a:ext>
            </a:extLst>
          </p:cNvPr>
          <p:cNvSpPr txBox="1"/>
          <p:nvPr/>
        </p:nvSpPr>
        <p:spPr>
          <a:xfrm>
            <a:off x="228600" y="4495800"/>
            <a:ext cx="213360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Result of Segmentation:</a:t>
            </a:r>
          </a:p>
        </p:txBody>
      </p:sp>
    </p:spTree>
    <p:extLst>
      <p:ext uri="{BB962C8B-B14F-4D97-AF65-F5344CB8AC3E}">
        <p14:creationId xmlns:p14="http://schemas.microsoft.com/office/powerpoint/2010/main" val="150851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811C-75D3-F988-EFC2-778C3F42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FF7E715B-106C-CE08-9553-8DEA7900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9963"/>
            <a:ext cx="9144000" cy="1107996"/>
          </a:xfrm>
        </p:spPr>
        <p:txBody>
          <a:bodyPr/>
          <a:lstStyle/>
          <a:p>
            <a:pPr algn="ctr"/>
            <a:r>
              <a:rPr lang="en-IN" sz="3600" dirty="0"/>
              <a:t>Data Analysis Step 2:</a:t>
            </a:r>
            <a:br>
              <a:rPr lang="en-IN" sz="3600" dirty="0"/>
            </a:br>
            <a:r>
              <a:rPr lang="en-IN" sz="3600" dirty="0"/>
              <a:t>Stress Testing</a:t>
            </a: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85A7C-5162-1341-2D7C-45E498D1D28B}"/>
              </a:ext>
            </a:extLst>
          </p:cNvPr>
          <p:cNvSpPr txBox="1"/>
          <p:nvPr/>
        </p:nvSpPr>
        <p:spPr>
          <a:xfrm>
            <a:off x="923544" y="1355414"/>
            <a:ext cx="86106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+mj-lt"/>
              </a:rPr>
              <a:t>We tested how customer segments behave under </a:t>
            </a:r>
            <a:r>
              <a:rPr lang="en-US" altLang="en-US" b="1" dirty="0">
                <a:latin typeface="+mj-lt"/>
              </a:rPr>
              <a:t>economic stress conditions</a:t>
            </a:r>
            <a:r>
              <a:rPr lang="en-US" altLang="en-US" dirty="0"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F8B59-15E6-32C8-A95E-269D4224869D}"/>
              </a:ext>
            </a:extLst>
          </p:cNvPr>
          <p:cNvSpPr txBox="1"/>
          <p:nvPr/>
        </p:nvSpPr>
        <p:spPr>
          <a:xfrm>
            <a:off x="963168" y="1907740"/>
            <a:ext cx="4480560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</a:rPr>
              <a:t>Stress Scenario: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+200 bps</a:t>
            </a:r>
            <a:r>
              <a:rPr lang="en-US" altLang="en-US" dirty="0"/>
              <a:t> increase in interest cost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-15%</a:t>
            </a:r>
            <a:r>
              <a:rPr lang="en-US" altLang="en-US" dirty="0"/>
              <a:t> reduction in repayment discipline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BDAE5-E436-C993-156F-6BA141C100C3}"/>
              </a:ext>
            </a:extLst>
          </p:cNvPr>
          <p:cNvSpPr txBox="1"/>
          <p:nvPr/>
        </p:nvSpPr>
        <p:spPr>
          <a:xfrm>
            <a:off x="944880" y="2950069"/>
            <a:ext cx="4489704" cy="21268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</a:rPr>
              <a:t>Findings:</a:t>
            </a:r>
            <a:endParaRPr lang="en-US" altLang="en-US" dirty="0">
              <a:solidFill>
                <a:schemeClr val="accent6"/>
              </a:solidFill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Safe High Spenders</a:t>
            </a:r>
            <a:r>
              <a:rPr lang="en-US" altLang="en-US" dirty="0"/>
              <a:t> → Remain financially stable.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Revolvers &amp; Over-Leveraged</a:t>
            </a:r>
            <a:r>
              <a:rPr lang="en-US" altLang="en-US" dirty="0"/>
              <a:t> → Show </a:t>
            </a:r>
            <a:r>
              <a:rPr lang="en-US" altLang="en-US" b="1" dirty="0"/>
              <a:t>rapid increase in risk</a:t>
            </a:r>
            <a:r>
              <a:rPr lang="en-US" altLang="en-US" dirty="0"/>
              <a:t> and likelihood of default.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A0F00-804E-12D3-EC1C-42D5E6D2C8D0}"/>
              </a:ext>
            </a:extLst>
          </p:cNvPr>
          <p:cNvSpPr txBox="1"/>
          <p:nvPr/>
        </p:nvSpPr>
        <p:spPr>
          <a:xfrm>
            <a:off x="944880" y="5358032"/>
            <a:ext cx="446532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/>
                </a:solidFill>
              </a:rPr>
              <a:t>Impact:</a:t>
            </a:r>
            <a:r>
              <a:rPr lang="en-US" altLang="en-US" dirty="0">
                <a:solidFill>
                  <a:schemeClr val="accent6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Identifies </a:t>
            </a:r>
            <a:r>
              <a:rPr lang="en-US" altLang="en-US" b="1" dirty="0"/>
              <a:t>vulnerable customer groups early</a:t>
            </a:r>
            <a:r>
              <a:rPr lang="en-US" altLang="en-US" dirty="0"/>
              <a:t>, allowing the bank to take </a:t>
            </a:r>
            <a:r>
              <a:rPr lang="en-US" altLang="en-US" b="1" dirty="0"/>
              <a:t>preventive actions</a:t>
            </a:r>
            <a:r>
              <a:rPr lang="en-US" altLang="en-US" dirty="0"/>
              <a:t> before losses occur.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CD85D7-1815-857A-7ABF-35935C9D1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27881"/>
              </p:ext>
            </p:extLst>
          </p:nvPr>
        </p:nvGraphicFramePr>
        <p:xfrm>
          <a:off x="5748528" y="2112220"/>
          <a:ext cx="6019800" cy="145709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15423066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723017301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751294561"/>
                    </a:ext>
                  </a:extLst>
                </a:gridCol>
              </a:tblGrid>
              <a:tr h="291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BASE_RISK_SCORE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STRESSED_RISK_SCORE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83759"/>
                  </a:ext>
                </a:extLst>
              </a:tr>
              <a:tr h="291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Over-Leveraged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660163"/>
                  </a:ext>
                </a:extLst>
              </a:tr>
              <a:tr h="291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Revolvers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23100"/>
                  </a:ext>
                </a:extLst>
              </a:tr>
              <a:tr h="291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 Users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215481"/>
                  </a:ext>
                </a:extLst>
              </a:tr>
              <a:tr h="2914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 High Spenders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679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4F17F56-7AF3-2292-67E4-ED1B8B55D17E}"/>
              </a:ext>
            </a:extLst>
          </p:cNvPr>
          <p:cNvSpPr txBox="1"/>
          <p:nvPr/>
        </p:nvSpPr>
        <p:spPr>
          <a:xfrm>
            <a:off x="7467600" y="1775679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Segment’s Stress Table: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1B31D7-8085-081A-D416-8C58701E7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939857"/>
              </p:ext>
            </p:extLst>
          </p:nvPr>
        </p:nvGraphicFramePr>
        <p:xfrm>
          <a:off x="5748528" y="4013501"/>
          <a:ext cx="6062472" cy="2590800"/>
        </p:xfrm>
        <a:graphic>
          <a:graphicData uri="http://schemas.openxmlformats.org/drawingml/2006/table">
            <a:tbl>
              <a:tblPr/>
              <a:tblGrid>
                <a:gridCol w="1309234">
                  <a:extLst>
                    <a:ext uri="{9D8B030D-6E8A-4147-A177-3AD203B41FA5}">
                      <a16:colId xmlns:a16="http://schemas.microsoft.com/office/drawing/2014/main" val="1633431621"/>
                    </a:ext>
                  </a:extLst>
                </a:gridCol>
                <a:gridCol w="1408319">
                  <a:extLst>
                    <a:ext uri="{9D8B030D-6E8A-4147-A177-3AD203B41FA5}">
                      <a16:colId xmlns:a16="http://schemas.microsoft.com/office/drawing/2014/main" val="3768275852"/>
                    </a:ext>
                  </a:extLst>
                </a:gridCol>
                <a:gridCol w="1481454">
                  <a:extLst>
                    <a:ext uri="{9D8B030D-6E8A-4147-A177-3AD203B41FA5}">
                      <a16:colId xmlns:a16="http://schemas.microsoft.com/office/drawing/2014/main" val="961025730"/>
                    </a:ext>
                  </a:extLst>
                </a:gridCol>
                <a:gridCol w="1863465">
                  <a:extLst>
                    <a:ext uri="{9D8B030D-6E8A-4147-A177-3AD203B41FA5}">
                      <a16:colId xmlns:a16="http://schemas.microsoft.com/office/drawing/2014/main" val="360718104"/>
                    </a:ext>
                  </a:extLst>
                </a:gridCol>
              </a:tblGrid>
              <a:tr h="298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Segment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Base Risk Score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+mj-lt"/>
                        </a:rPr>
                        <a:t>Stressed Risk Score</a:t>
                      </a:r>
                      <a:endParaRPr lang="en-IN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+mj-lt"/>
                        </a:rPr>
                        <a:t>Interpretation</a:t>
                      </a:r>
                      <a:endParaRPr lang="en-IN" sz="14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07315"/>
                  </a:ext>
                </a:extLst>
              </a:tr>
              <a:tr h="5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Over-Leveraged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</a:rPr>
                        <a:t>Very High</a:t>
                      </a:r>
                      <a:endParaRPr lang="en-IN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</a:rPr>
                        <a:t>Critical</a:t>
                      </a:r>
                      <a:endParaRPr lang="en-IN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Immediate intervention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37267"/>
                  </a:ext>
                </a:extLst>
              </a:tr>
              <a:tr h="5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Revolvers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</a:rPr>
                        <a:t>Very High</a:t>
                      </a:r>
                      <a:endParaRPr lang="en-IN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Likely to default under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451512"/>
                  </a:ext>
                </a:extLst>
              </a:tr>
              <a:tr h="5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Moderate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Moderate–High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Caution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60232"/>
                  </a:ext>
                </a:extLst>
              </a:tr>
              <a:tr h="515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Safe High Spenders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Low–Moderate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Stable</a:t>
                      </a:r>
                      <a:r>
                        <a:rPr lang="en-IN" sz="1400" dirty="0"/>
                        <a:t> even under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254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A1574B8-3444-37D9-6047-6B4EE3FCC716}"/>
              </a:ext>
            </a:extLst>
          </p:cNvPr>
          <p:cNvSpPr txBox="1"/>
          <p:nvPr/>
        </p:nvSpPr>
        <p:spPr>
          <a:xfrm>
            <a:off x="7272528" y="3616785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Segment’s Resk Comparison</a:t>
            </a:r>
          </a:p>
        </p:txBody>
      </p:sp>
    </p:spTree>
    <p:extLst>
      <p:ext uri="{BB962C8B-B14F-4D97-AF65-F5344CB8AC3E}">
        <p14:creationId xmlns:p14="http://schemas.microsoft.com/office/powerpoint/2010/main" val="8038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5351-523B-022D-0CDC-DD232196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BF9F04CA-CCDC-9871-0BE0-458AD3A0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40208"/>
            <a:ext cx="6781800" cy="1107996"/>
          </a:xfrm>
        </p:spPr>
        <p:txBody>
          <a:bodyPr/>
          <a:lstStyle/>
          <a:p>
            <a:pPr algn="ctr"/>
            <a:r>
              <a:rPr lang="en-IN" sz="3600" dirty="0"/>
              <a:t>Data Analysis Step 3:</a:t>
            </a:r>
            <a:br>
              <a:rPr lang="en-IN" sz="3600" dirty="0"/>
            </a:br>
            <a:r>
              <a:rPr lang="en-IN" sz="3600" dirty="0"/>
              <a:t>Prescriptive Strategy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2C15AA-CE84-B5E6-BF30-54965C280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59521"/>
              </p:ext>
            </p:extLst>
          </p:nvPr>
        </p:nvGraphicFramePr>
        <p:xfrm>
          <a:off x="597408" y="1503985"/>
          <a:ext cx="10716768" cy="2287936"/>
        </p:xfrm>
        <a:graphic>
          <a:graphicData uri="http://schemas.openxmlformats.org/drawingml/2006/table">
            <a:tbl>
              <a:tblPr/>
              <a:tblGrid>
                <a:gridCol w="2624514">
                  <a:extLst>
                    <a:ext uri="{9D8B030D-6E8A-4147-A177-3AD203B41FA5}">
                      <a16:colId xmlns:a16="http://schemas.microsoft.com/office/drawing/2014/main" val="222280103"/>
                    </a:ext>
                  </a:extLst>
                </a:gridCol>
                <a:gridCol w="4519998">
                  <a:extLst>
                    <a:ext uri="{9D8B030D-6E8A-4147-A177-3AD203B41FA5}">
                      <a16:colId xmlns:a16="http://schemas.microsoft.com/office/drawing/2014/main" val="3676511815"/>
                    </a:ext>
                  </a:extLst>
                </a:gridCol>
                <a:gridCol w="3572256">
                  <a:extLst>
                    <a:ext uri="{9D8B030D-6E8A-4147-A177-3AD203B41FA5}">
                      <a16:colId xmlns:a16="http://schemas.microsoft.com/office/drawing/2014/main" val="566461203"/>
                    </a:ext>
                  </a:extLst>
                </a:gridCol>
              </a:tblGrid>
              <a:tr h="284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Policy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235061"/>
                  </a:ext>
                </a:extLst>
              </a:tr>
              <a:tr h="48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Safe High Spenders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Credit Limit Increase + APR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Promote loyalty &amp; spending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9275"/>
                  </a:ext>
                </a:extLst>
              </a:tr>
              <a:tr h="48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Moderate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Hold &amp; 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Stabilize spending habits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12172"/>
                  </a:ext>
                </a:extLst>
              </a:tr>
              <a:tr h="48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Revolvers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APR Hike / Limit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Prevent risky over-expansion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461974"/>
                  </a:ext>
                </a:extLst>
              </a:tr>
              <a:tr h="480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Over-Leveraged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Assist Outreach / Restructure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Avoid default &amp; reduce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407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0E1F8C5-128F-9F37-92FC-52F540A4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05" b="876"/>
          <a:stretch>
            <a:fillRect/>
          </a:stretch>
        </p:blipFill>
        <p:spPr>
          <a:xfrm>
            <a:off x="1295400" y="4210047"/>
            <a:ext cx="5004816" cy="235503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4F0FD9-A09B-7D29-7ADB-0792B55F0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868430"/>
              </p:ext>
            </p:extLst>
          </p:nvPr>
        </p:nvGraphicFramePr>
        <p:xfrm>
          <a:off x="6986016" y="4210047"/>
          <a:ext cx="4315968" cy="2287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28486">
                  <a:extLst>
                    <a:ext uri="{9D8B030D-6E8A-4147-A177-3AD203B41FA5}">
                      <a16:colId xmlns:a16="http://schemas.microsoft.com/office/drawing/2014/main" val="3302279467"/>
                    </a:ext>
                  </a:extLst>
                </a:gridCol>
                <a:gridCol w="1487482">
                  <a:extLst>
                    <a:ext uri="{9D8B030D-6E8A-4147-A177-3AD203B41FA5}">
                      <a16:colId xmlns:a16="http://schemas.microsoft.com/office/drawing/2014/main" val="3204171714"/>
                    </a:ext>
                  </a:extLst>
                </a:gridCol>
              </a:tblGrid>
              <a:tr h="4575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ACTION_CODE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CUSTOMERS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527385"/>
                  </a:ext>
                </a:extLst>
              </a:tr>
              <a:tr h="4575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TIGHTEN_LIMIT / APR_HIKE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6519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67021"/>
                  </a:ext>
                </a:extLst>
              </a:tr>
              <a:tr h="4575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UPGRADE_LIMIT / APR_CUT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1263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155223"/>
                  </a:ext>
                </a:extLst>
              </a:tr>
              <a:tr h="4575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ASSIST_OUTREACH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1028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752618"/>
                  </a:ext>
                </a:extLst>
              </a:tr>
              <a:tr h="4575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HOLD_MONITOR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solidFill>
                            <a:schemeClr val="tx1"/>
                          </a:solidFill>
                          <a:effectLst/>
                        </a:rPr>
                        <a:t>140</a:t>
                      </a:r>
                      <a:endParaRPr lang="en-IN" sz="14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8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17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8712-5948-A80D-6E93-F9DAF9BC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5FC67E3C-3BA4-B2E0-1BE1-16C214DF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04800"/>
            <a:ext cx="8077200" cy="695731"/>
          </a:xfrm>
        </p:spPr>
        <p:txBody>
          <a:bodyPr/>
          <a:lstStyle/>
          <a:p>
            <a:r>
              <a:rPr lang="en-US" sz="3600" dirty="0"/>
              <a:t>How Our Solution Fills the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8C5845-8257-A05F-4B3E-CA4DDA2F1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56266"/>
            <a:ext cx="10515600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39.2%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customers now get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personalised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(31.3% reductions; 7.9% upgrades) vs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earlier.</a:t>
            </a:r>
          </a:p>
          <a:p>
            <a:pPr lvl="0" eaLnBrk="0" fontAlgn="base" hangingPunct="0"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400" dirty="0"/>
              <a:t>Identifies </a:t>
            </a:r>
            <a:r>
              <a:rPr lang="en-US" altLang="en-US" sz="2400" b="1" dirty="0"/>
              <a:t>hidden high-risk customers</a:t>
            </a:r>
            <a:r>
              <a:rPr lang="en-US" altLang="en-US" sz="2400" dirty="0"/>
              <a:t> early.</a:t>
            </a:r>
          </a:p>
          <a:p>
            <a:pPr lvl="0" eaLnBrk="0" fontAlgn="base" hangingPunct="0"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400" dirty="0"/>
              <a:t>Recognizes </a:t>
            </a:r>
            <a:r>
              <a:rPr lang="en-US" altLang="en-US" sz="2400" b="1" dirty="0"/>
              <a:t>high-value, low-risk customers</a:t>
            </a:r>
            <a:r>
              <a:rPr lang="en-US" altLang="en-US" sz="2400" dirty="0"/>
              <a:t> who should be rewarded.</a:t>
            </a:r>
          </a:p>
          <a:p>
            <a:pPr lvl="0" eaLnBrk="0" fontAlgn="base" hangingPunct="0"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400" dirty="0"/>
              <a:t>Enables </a:t>
            </a:r>
            <a:r>
              <a:rPr lang="en-US" altLang="en-US" sz="2400" b="1" dirty="0"/>
              <a:t>dynamic, controlled credit expansion</a:t>
            </a:r>
            <a:r>
              <a:rPr lang="en-US" altLang="en-US" sz="2400" dirty="0"/>
              <a:t> instead of blanket increases.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replaces one-size-fits-all: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14.8%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“safe high spenders”;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85.2%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 differentiated rules.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901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16AD-4285-0501-F0D6-4F8CB490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267207D6-3FDD-2B45-F753-E895A1CC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304800"/>
            <a:ext cx="5638800" cy="615553"/>
          </a:xfrm>
        </p:spPr>
        <p:txBody>
          <a:bodyPr/>
          <a:lstStyle/>
          <a:p>
            <a:r>
              <a:rPr lang="en-US" sz="4000" dirty="0"/>
              <a:t>Industry Impact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F2C7A-DD77-0746-267A-FE48A62994AF}"/>
              </a:ext>
            </a:extLst>
          </p:cNvPr>
          <p:cNvSpPr txBox="1"/>
          <p:nvPr/>
        </p:nvSpPr>
        <p:spPr>
          <a:xfrm>
            <a:off x="762000" y="1066800"/>
            <a:ext cx="102108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Our model enables banks to: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Reduce failure and default probability.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Improve </a:t>
            </a:r>
            <a:r>
              <a:rPr lang="en-US" sz="2400" b="1" dirty="0"/>
              <a:t>risk-adjusted ROI</a:t>
            </a:r>
            <a:r>
              <a:rPr lang="en-US" sz="2400" dirty="0"/>
              <a:t> on credit portfolios.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Enhance customer satisfaction through personalized treatment.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Move from </a:t>
            </a:r>
            <a:r>
              <a:rPr lang="en-US" sz="2400" b="1" dirty="0"/>
              <a:t>reactive</a:t>
            </a:r>
            <a:r>
              <a:rPr lang="en-US" sz="2400" dirty="0"/>
              <a:t> to </a:t>
            </a:r>
            <a:r>
              <a:rPr lang="en-US" sz="2400" b="1" dirty="0"/>
              <a:t>proactive</a:t>
            </a:r>
            <a:r>
              <a:rPr lang="en-US" sz="2400" dirty="0"/>
              <a:t> credit management.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Strengthen long-term portfolio stability.</a:t>
            </a:r>
          </a:p>
        </p:txBody>
      </p:sp>
    </p:spTree>
    <p:extLst>
      <p:ext uri="{BB962C8B-B14F-4D97-AF65-F5344CB8AC3E}">
        <p14:creationId xmlns:p14="http://schemas.microsoft.com/office/powerpoint/2010/main" val="3181300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D50B-2453-B1A7-19A9-09546A62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1" y="228600"/>
            <a:ext cx="7162800" cy="553998"/>
          </a:xfrm>
        </p:spPr>
        <p:txBody>
          <a:bodyPr/>
          <a:lstStyle/>
          <a:p>
            <a:r>
              <a:rPr lang="en-IN" sz="3600" dirty="0"/>
              <a:t>Limitations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FB54C-9236-CEDE-4A73-6B252E9A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07592"/>
            <a:ext cx="5257801" cy="4758354"/>
          </a:xfrm>
          <a:ln w="19050"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  Limitations: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+mj-lt"/>
              </a:rPr>
              <a:t>Uses historical data only (no real-time behavioral updates).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+mj-lt"/>
              </a:rPr>
              <a:t>Segmentation is static — customers may shift groups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+mj-lt"/>
              </a:rPr>
              <a:t>Stress scenario assumptions may not reflect all economic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+mj-lt"/>
              </a:rPr>
              <a:t>Does not include external credit bureau data (CIBIL/Experian).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+mj-lt"/>
              </a:rPr>
              <a:t>Model is not yet deployed into live decision systems.</a:t>
            </a:r>
          </a:p>
          <a:p>
            <a:pPr>
              <a:lnSpc>
                <a:spcPct val="150000"/>
              </a:lnSpc>
            </a:pPr>
            <a:endParaRPr lang="en-US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49E95-9842-B010-0CCF-81F38F137936}"/>
              </a:ext>
            </a:extLst>
          </p:cNvPr>
          <p:cNvSpPr txBox="1"/>
          <p:nvPr/>
        </p:nvSpPr>
        <p:spPr>
          <a:xfrm>
            <a:off x="6385561" y="1307592"/>
            <a:ext cx="5273039" cy="4758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Future Scope: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real-time monitoring with streaming transaction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Dynamic segmentation that updates as customer behavior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Integrate credit bureau &amp; income verification APIs for higher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Extend stress testing to multiple macro-economic scenarios.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 as a decision support dashboard for credit risk teams.</a:t>
            </a:r>
          </a:p>
        </p:txBody>
      </p:sp>
    </p:spTree>
    <p:extLst>
      <p:ext uri="{BB962C8B-B14F-4D97-AF65-F5344CB8AC3E}">
        <p14:creationId xmlns:p14="http://schemas.microsoft.com/office/powerpoint/2010/main" val="78060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THANK</a:t>
            </a:r>
            <a:r>
              <a:rPr spc="-135" dirty="0"/>
              <a:t> </a:t>
            </a:r>
            <a:r>
              <a:rPr spc="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</TotalTime>
  <Words>932</Words>
  <Application>Microsoft Office PowerPoint</Application>
  <PresentationFormat>Widescreen</PresentationFormat>
  <Paragraphs>193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Verdana</vt:lpstr>
      <vt:lpstr>Wingdings</vt:lpstr>
      <vt:lpstr>Office Theme</vt:lpstr>
      <vt:lpstr>PowerPoint Presentation</vt:lpstr>
      <vt:lpstr>Table of Contents</vt:lpstr>
      <vt:lpstr>Industry Background – Deloitte </vt:lpstr>
      <vt:lpstr>Problem Identification</vt:lpstr>
      <vt:lpstr>Project Objective</vt:lpstr>
      <vt:lpstr>Gap Analysis (AS-IS vs TO-BE)</vt:lpstr>
      <vt:lpstr>Data Analysis Step 1: Segmentation Framework</vt:lpstr>
      <vt:lpstr>Data Analysis Step 2: Stress Testing</vt:lpstr>
      <vt:lpstr>Data Analysis Step 3: Prescriptive Strategy</vt:lpstr>
      <vt:lpstr>How Our Solution Fills the Gap</vt:lpstr>
      <vt:lpstr>Industry Impact</vt:lpstr>
      <vt:lpstr>Limitations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Srijith Mohanan</dc:creator>
  <cp:lastModifiedBy>Subham kumar Sahana</cp:lastModifiedBy>
  <cp:revision>8</cp:revision>
  <dcterms:created xsi:type="dcterms:W3CDTF">2024-11-05T14:34:55Z</dcterms:created>
  <dcterms:modified xsi:type="dcterms:W3CDTF">2025-10-27T13:54:22Z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2024-11-05T00:00:00Z</vt:filetime>
  </property>
</Properties>
</file>